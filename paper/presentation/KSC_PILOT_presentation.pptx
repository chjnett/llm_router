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6c2ed251e148c7" /><Relationship Type="http://schemas.openxmlformats.org/officeDocument/2006/relationships/extended-properties" Target="/docProps/app.xml" Id="R2327885be0664f9b" /><Relationship Type="http://schemas.openxmlformats.org/officeDocument/2006/relationships/officeDocument" Target="/ppt/presentation.xml" Id="Rf8bfffef134848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33cf958ad549ed"/>
  </p:sldMasterIdLst>
  <p:notesMasterIdLst>
    <p:notesMasterId xmlns:r="http://schemas.openxmlformats.org/officeDocument/2006/relationships" r:id="R27d2abef6db44d9d"/>
  </p:notesMasterIdLst>
  <p:sldIdLst>
    <p:sldId xmlns:r="http://schemas.openxmlformats.org/officeDocument/2006/relationships" id="256" r:id="Rcc5164b3f7ef4f3a"/>
    <p:sldId xmlns:r="http://schemas.openxmlformats.org/officeDocument/2006/relationships" id="257" r:id="R8846d014bed748e8"/>
    <p:sldId xmlns:r="http://schemas.openxmlformats.org/officeDocument/2006/relationships" id="258" r:id="R1bfbd8e3ad734385"/>
    <p:sldId xmlns:r="http://schemas.openxmlformats.org/officeDocument/2006/relationships" id="259" r:id="R87966bcebbe145e8"/>
    <p:sldId xmlns:r="http://schemas.openxmlformats.org/officeDocument/2006/relationships" id="260" r:id="R81cb9e5d45194c37"/>
    <p:sldId xmlns:r="http://schemas.openxmlformats.org/officeDocument/2006/relationships" id="261" r:id="R7f9fd3071de248c6"/>
    <p:sldId xmlns:r="http://schemas.openxmlformats.org/officeDocument/2006/relationships" id="262" r:id="R0ad0e4933c5e4fb3"/>
    <p:sldId xmlns:r="http://schemas.openxmlformats.org/officeDocument/2006/relationships" id="263" r:id="R04d5741f68074a91"/>
    <p:sldId xmlns:r="http://schemas.openxmlformats.org/officeDocument/2006/relationships" id="264" r:id="R90c8388131c04629"/>
    <p:sldId xmlns:r="http://schemas.openxmlformats.org/officeDocument/2006/relationships" id="265" r:id="R7a9d64ff99514b83"/>
    <p:sldId xmlns:r="http://schemas.openxmlformats.org/officeDocument/2006/relationships" id="266" r:id="Rbe93cc7fc39a410d"/>
    <p:sldId xmlns:r="http://schemas.openxmlformats.org/officeDocument/2006/relationships" id="267" r:id="R6c404676d2f7448e"/>
    <p:sldId xmlns:r="http://schemas.openxmlformats.org/officeDocument/2006/relationships" id="268" r:id="Rfbefa1b8dd7f4c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62ebda267e4bf2" /><Relationship Type="http://schemas.openxmlformats.org/officeDocument/2006/relationships/slideMaster" Target="/ppt/slideMasters/slideMaster1.xml" Id="R9c33cf958ad549ed" /><Relationship Type="http://schemas.openxmlformats.org/officeDocument/2006/relationships/notesMaster" Target="/ppt/notesMasters/notesMaster1.xml" Id="R27d2abef6db44d9d" /><Relationship Type="http://schemas.openxmlformats.org/officeDocument/2006/relationships/presProps" Target="/ppt/presProps.xml" Id="R851ab98c55034987" /><Relationship Type="http://schemas.openxmlformats.org/officeDocument/2006/relationships/tableStyles" Target="/ppt/tableStyles.xml" Id="Re87ada86dd4c43e4" /><Relationship Type="http://schemas.openxmlformats.org/officeDocument/2006/relationships/slide" Target="/ppt/slides/slide1.xml" Id="Rcc5164b3f7ef4f3a" /><Relationship Type="http://schemas.openxmlformats.org/officeDocument/2006/relationships/slide" Target="/ppt/slides/slide2.xml" Id="R8846d014bed748e8" /><Relationship Type="http://schemas.openxmlformats.org/officeDocument/2006/relationships/slide" Target="/ppt/slides/slide3.xml" Id="R1bfbd8e3ad734385" /><Relationship Type="http://schemas.openxmlformats.org/officeDocument/2006/relationships/slide" Target="/ppt/slides/slide4.xml" Id="R87966bcebbe145e8" /><Relationship Type="http://schemas.openxmlformats.org/officeDocument/2006/relationships/slide" Target="/ppt/slides/slide5.xml" Id="R81cb9e5d45194c37" /><Relationship Type="http://schemas.openxmlformats.org/officeDocument/2006/relationships/slide" Target="/ppt/slides/slide6.xml" Id="R7f9fd3071de248c6" /><Relationship Type="http://schemas.openxmlformats.org/officeDocument/2006/relationships/slide" Target="/ppt/slides/slide7.xml" Id="R0ad0e4933c5e4fb3" /><Relationship Type="http://schemas.openxmlformats.org/officeDocument/2006/relationships/slide" Target="/ppt/slides/slide8.xml" Id="R04d5741f68074a91" /><Relationship Type="http://schemas.openxmlformats.org/officeDocument/2006/relationships/slide" Target="/ppt/slides/slide9.xml" Id="R90c8388131c04629" /><Relationship Type="http://schemas.openxmlformats.org/officeDocument/2006/relationships/slide" Target="/ppt/slides/slide10.xml" Id="R7a9d64ff99514b83" /><Relationship Type="http://schemas.openxmlformats.org/officeDocument/2006/relationships/slide" Target="/ppt/slides/slide11.xml" Id="Rbe93cc7fc39a410d" /><Relationship Type="http://schemas.openxmlformats.org/officeDocument/2006/relationships/slide" Target="/ppt/slides/slide12.xml" Id="R6c404676d2f7448e" /><Relationship Type="http://schemas.openxmlformats.org/officeDocument/2006/relationships/slide" Target="/ppt/slides/slide13.xml" Id="Rfbefa1b8dd7f4c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91bd457b654d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0500976a2b4cb1" /><Relationship Type="http://schemas.openxmlformats.org/officeDocument/2006/relationships/notesMaster" Target="/ppt/notesMasters/notesMaster1.xml" Id="Ra7ea69251cf54e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43893911821401c" /><Relationship Type="http://schemas.openxmlformats.org/officeDocument/2006/relationships/notesMaster" Target="/ppt/notesMasters/notesMaster1.xml" Id="Ra3255c57ccf94d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ba3ad8c86d4238" /><Relationship Type="http://schemas.openxmlformats.org/officeDocument/2006/relationships/notesMaster" Target="/ppt/notesMasters/notesMaster1.xml" Id="Reb41f5d4889b4b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3a67ae7ad9491a" /><Relationship Type="http://schemas.openxmlformats.org/officeDocument/2006/relationships/notesMaster" Target="/ppt/notesMasters/notesMaster1.xml" Id="R952f589a0e464d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63f18536df4c89" /><Relationship Type="http://schemas.openxmlformats.org/officeDocument/2006/relationships/notesMaster" Target="/ppt/notesMasters/notesMaster1.xml" Id="Rdab1a4d663e249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191ea2f5034391" /><Relationship Type="http://schemas.openxmlformats.org/officeDocument/2006/relationships/notesMaster" Target="/ppt/notesMasters/notesMaster1.xml" Id="R1c8ae9a072fe48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a653a1cd604991" /><Relationship Type="http://schemas.openxmlformats.org/officeDocument/2006/relationships/notesMaster" Target="/ppt/notesMasters/notesMaster1.xml" Id="Rc61f5efe916e4f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35cdfbd05f438b" /><Relationship Type="http://schemas.openxmlformats.org/officeDocument/2006/relationships/notesMaster" Target="/ppt/notesMasters/notesMaster1.xml" Id="Re649ac1e655343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ea3b2a5eb114347" /><Relationship Type="http://schemas.openxmlformats.org/officeDocument/2006/relationships/notesMaster" Target="/ppt/notesMasters/notesMaster1.xml" Id="Rf4f55054fa3f4e5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c02570ab1c428b" /><Relationship Type="http://schemas.openxmlformats.org/officeDocument/2006/relationships/notesMaster" Target="/ppt/notesMasters/notesMaster1.xml" Id="R3e9e1afa65d8442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3bab5ed23794366" /><Relationship Type="http://schemas.openxmlformats.org/officeDocument/2006/relationships/notesMaster" Target="/ppt/notesMasters/notesMaster1.xml" Id="R70b4bf9ab5fd48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c759eab2584fec" /><Relationship Type="http://schemas.openxmlformats.org/officeDocument/2006/relationships/notesMaster" Target="/ppt/notesMasters/notesMaster1.xml" Id="Rf4386267e50f462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b9b7fef34c94b61" /><Relationship Type="http://schemas.openxmlformats.org/officeDocument/2006/relationships/notesMaster" Target="/ppt/notesMasters/notesMaster1.xml" Id="R4fda05c1519344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연구의 핵심은 질문만 보고 모델을 고르는 것이 아니라, 작은 모델이 실제로 만든 답을 보고 라우팅한다는 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일반 임베딩은 의미 유사도에는 강하지만 특정 Lower 모델이 풀 수 있는지 직접 알려주지 않는다. 출력 신뢰도 특징이 이 간극을 보완했다.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C:/llm_models/llm_router/artifacts/results/baseline_routers_lower_concise_7b.json</a:t>
            </a:r>
          </a:p>
          <a:p xmlns:a="http://schemas.openxmlformats.org/drawingml/2006/main">
            <a:r>
              <a:t>- C:/llm_models/llm_router/artifacts/results/confidence_router.json</a:t>
            </a:r>
          </a:p>
          <a:p xmlns:a="http://schemas.openxmlformats.org/drawingml/2006/main">
            <a:r>
              <a:t>- C:/llm_models/llm_router/src/run_confidence_router.py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C3와 제안 방법은 첫 번째 SLM과 Upper LLM이 같다. 차이는 경계 사례의 두 번째 호출을 전체 풀이 대신 정답 전용 프롬프트로 바꾼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C:/llm_models/llm_router/src/run_low_cost_verifier.py</a:t>
            </a:r>
          </a:p>
          <a:p xmlns:a="http://schemas.openxmlformats.org/drawingml/2006/main">
            <a:r>
              <a:t>- C:/llm_models/llm_router/src/inference.py</a:t>
            </a:r>
          </a:p>
          <a:p xmlns:a="http://schemas.openxmlformats.org/drawingml/2006/main">
            <a:r>
              <a:t>- C:/llm_models/llm_router/paper/figures/fig1_architecture.png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q_i는 로지스틱 회귀가 출력하는 Lower 성공 확률이다. τ_l과 τ_h 사이만 Answer-only 검증을 수행한다. 본 실험의 고정 임계값은 τ_l=0.12, τ_h=0.80이다.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manuscript equation screenshot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accept_i는 높은 신뢰도이거나, 경계 구간에서 첫 숫자 답과 검증 숫자 답이 같을 때 1이다. I는 해당 모델을 실제 호출했으면 1, 아니면 0인 지시함수다. 정규화 비용은 Always-Upper 비용을 1로 둔 평균이다.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manuscript equation screenshot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슬라이드는 실험 단계별 수치를 구분해 해석한다. Lower 단독 61.43~63.25%는 GSM8K full/pilot 기준선이다. 이전 C3 cascade는 fresh GSM8K에서 86.00/87.25=98.57%, SVAMP zero-shot에서 86.33/88.00=98.11%의 Upper 품질을 유지했다. 최종 Answer-only 방법은 독립 인증에서 88.00/88.80=99.10%, 공식 테스트에서 85.67/88.00=97.35%를 유지하면서 비용을 22.29%와 19.42% 절감했다. 따라서 서로 다른 분할의 61~63%와 86%를 paired improvement처럼 주장하지 않고, 프로젝트 전체에서 Lower 손실을 회복해 Upper 수준에 접근한 흐름으로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  <a:p xmlns:a="http://schemas.openxmlformats.org/drawingml/2006/main">
            <a:r>
              <a:t>- C:/llm_models/llm_router/artifacts/results/baseline_routers_lower_concise_7b.json</a:t>
            </a:r>
          </a:p>
          <a:p xmlns:a="http://schemas.openxmlformats.org/drawingml/2006/main">
            <a:r>
              <a:t>- C:/llm_models/llm_router/artifacts/results/fresh_c3_gate.json</a:t>
            </a:r>
          </a:p>
          <a:p xmlns:a="http://schemas.openxmlformats.org/drawingml/2006/main">
            <a:r>
              <a:t>- C:/llm_models/llm_router/artifacts/results/svamp_zero_shot_c3.json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C:/llm_models/llm_router/paper/data/paper_results.json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5.40토큰은 지연시간 벤치마크 128문항의 평균이다. 독립 인증 250문항에서는 평균 6.54토큰이므로 표본 범위를 구분해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  <a:p xmlns:a="http://schemas.openxmlformats.org/drawingml/2006/main">
            <a:r>
              <a:t>- C:/llm_models/llm_router/paper/figures/fig2_latency_tokens.png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품질 유지율은 인증 88.00/88.80=99.10%, 공식 테스트 85.67/88.00=97.35%로 계산했다. 98.11%와 26.79%는 최종 Answer-only 결과가 아니므로 발표에서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통계적으로 유의한 차이가 없다는 사실은 동등성 증명이 아니다. 위험 상한 5.195%는 사전 기준 5%를 근소하게 넘었으므로 near-miss로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보라색 점 0.12/0.80은 독립 평가 전에 고정했다. 오른쪽 0.12/0.82를 결과를 본 뒤 최종 정책으로 교체하지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C:/llm_models/llm_router/paper/figures/fig3_pareto_frontier.png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RouteLLM/FrugalGPT와의 비교는 기능적 차이를 요약한 것이다. 본 실험의 BGE AUC 0.589를 모든 query-only 라우터의 일반 성능처럼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C:/llm_models/llm_router/paper/overleaf/main_single.tex</a:t>
            </a:r>
          </a:p>
          <a:p xmlns:a="http://schemas.openxmlformats.org/drawingml/2006/main">
            <a:r>
              <a:t>- https://openreview.net/forum?id=8sSqNntaMr</a:t>
            </a:r>
          </a:p>
          <a:p xmlns:a="http://schemas.openxmlformats.org/drawingml/2006/main">
            <a:r>
              <a:t>- https://openreview.net/forum?id=cSimKw5p6R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Drift adaptation은 HTML 전체 아키텍처에 포함된 운영 확장 방향이다. 이번 핵심 실험이 직접 입증한 것은 Answer-only 검증의 속도와 성능-비용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  <a:p xmlns:a="http://schemas.openxmlformats.org/drawingml/2006/main">
            <a:r>
              <a:t>- C:/llm_models/llm_router/RESULTS_KSC_PILOT.md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메시지는 Upper보다 정답률을 높였다는 것이 아니다. Lower를 활용하면서도 독립 평가에서 Upper 품질의 97.35~99.10%를 유지했고, 전체 비용은 19.42~22.29% 절감했으며, Answer-only 검증은 29.15ms였다. 안전 보장이나 모든 도메인 일반화를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https://github.com/chjnett/llm_router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f42a56ee924d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67bda677954f55" /><Relationship Type="http://schemas.openxmlformats.org/officeDocument/2006/relationships/slideLayout" Target="/ppt/slideLayouts/slideLayout1.xml" Id="Ra3de78d0191942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de78d0191942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377174cd143dc" /><Relationship Type="http://schemas.openxmlformats.org/officeDocument/2006/relationships/notesSlide" Target="/ppt/notesSlides/notesSlide1.xml" Id="R617536806aad4e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13e50940a4988" /><Relationship Type="http://schemas.openxmlformats.org/officeDocument/2006/relationships/notesSlide" Target="/ppt/notesSlides/notesSlide2.xml" Id="R8801301bf72943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0a204823e44fd" /><Relationship Type="http://schemas.openxmlformats.org/officeDocument/2006/relationships/image" Target="/ppt/media/image.png" Id="R9feb1d996bde45a8" /><Relationship Type="http://schemas.openxmlformats.org/officeDocument/2006/relationships/notesSlide" Target="/ppt/notesSlides/notesSlide3.xml" Id="Rf8c206a5e50341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8c9d7d4b342cf" /><Relationship Type="http://schemas.openxmlformats.org/officeDocument/2006/relationships/notesSlide" Target="/ppt/notesSlides/notesSlide4.xml" Id="Re5f636cc7e984f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65b0dbd7d24196" /><Relationship Type="http://schemas.openxmlformats.org/officeDocument/2006/relationships/notesSlide" Target="/ppt/notesSlides/notesSlide5.xml" Id="Ra00fea5d3fc24f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aea1088bd45cc" /><Relationship Type="http://schemas.openxmlformats.org/officeDocument/2006/relationships/notesSlide" Target="/ppt/notesSlides/notesSlide6.xml" Id="R8a7e76f0dac74e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6fa7925a84efb" /><Relationship Type="http://schemas.openxmlformats.org/officeDocument/2006/relationships/image" Target="/ppt/media/image2.png" Id="R6e3ec27d4a954c57" /><Relationship Type="http://schemas.openxmlformats.org/officeDocument/2006/relationships/notesSlide" Target="/ppt/notesSlides/notesSlide7.xml" Id="R3f1092353d8b43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ce5b158204cfd" /><Relationship Type="http://schemas.openxmlformats.org/officeDocument/2006/relationships/notesSlide" Target="/ppt/notesSlides/notesSlide8.xml" Id="R4f6c54bafc6347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46a73b76441cf" /><Relationship Type="http://schemas.openxmlformats.org/officeDocument/2006/relationships/notesSlide" Target="/ppt/notesSlides/notesSlide9.xml" Id="Re0b704536d6441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fe44137e77471e" /><Relationship Type="http://schemas.openxmlformats.org/officeDocument/2006/relationships/image" Target="/ppt/media/image3.png" Id="R0a33431a7b3c43ed" /><Relationship Type="http://schemas.openxmlformats.org/officeDocument/2006/relationships/notesSlide" Target="/ppt/notesSlides/notesSlide10.xml" Id="R2b31970dc3e84f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670d9ff484e7c" /><Relationship Type="http://schemas.openxmlformats.org/officeDocument/2006/relationships/notesSlide" Target="/ppt/notesSlides/notesSlide11.xml" Id="R839e5437851b41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30ac985a54009" /><Relationship Type="http://schemas.openxmlformats.org/officeDocument/2006/relationships/notesSlide" Target="/ppt/notesSlides/notesSlide12.xml" Id="R198972010ce74c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ed9e6b0794f20" /><Relationship Type="http://schemas.openxmlformats.org/officeDocument/2006/relationships/notesSlide" Target="/ppt/notesSlides/notesSlide13.xml" Id="R2ec5832dbac44c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FAD78-9F24-4FD7-8A30-56B4B737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62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0CB4A-79E2-41D0-AC46-44EB1B63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23950"/>
            <a:ext cx="857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작은 모델이 먼저 답하고,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의심될 때만 큰 모델이 해결한다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DC398-557F-4E8C-A529-83FC5327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출력 신뢰도 + 정답 한 줄 검증을 이용한 적응형 SLM-LLM 라우팅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B066C-EE22-418B-BB6F-D23700F0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KSC PILOT · Capability-aware Adaptive Routing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90E42-6659-4B92-B5DC-51D3A05F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29.15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AC2C4-33C4-4D2F-AF8D-AE7B37AE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정답 전용 검증 지연시간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3743C-6123-42D2-838D-B042415B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−94.09%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4DCF0-8512-45B8-B174-923B3266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두 번째 호출 지연시간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EA05B-D1CD-4E14-8B8C-4218C82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Qwen2.5-1.5B → 필요할 때만 7B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6A9A30-55E5-4F73-8B8D-3922371E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BDBA1-0A2A-4549-AB75-E8330D43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658313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C34D77-6750-4E83-80C4-568DF16A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E8092-474A-40D3-A340-CCBC0021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질문만 보면 ‘주제’는 알지만, 작은 모델의 ‘수행 가능성’은 모른다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7E3A3-98AB-4722-BB0B-DBC3D038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37DB1-3CF9-4770-B9D7-8F5CD3BD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기존 Query-only 라우팅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B65CA-7706-4318-958A-4337CA31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질문 임베딩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AE64D-213B-4270-99CB-CDDDA8CC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479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EFACB6-DE05-4C65-BA77-B82672E9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모델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75441-679D-4B28-99D9-1538A3F0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521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같은 수학 주제 안에서도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쉬운 문제와 어려운 문제를 구분하기 어렵다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C75D6-31E4-4821-8E5D-DFAFB305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1905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09E7AB-E16E-4BFB-8D0A-CD41290D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본 연구: Output-aware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CADA38-6419-43B9-A86D-111F0A2D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431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DC29D-42FE-49AA-ACCE-BC183B7F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4790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SLM이 먼저 실제 답을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4290B-400A-4A53-884A-6C30CCCE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66352-5610-4B0A-819A-F02C537A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337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토큰 확률·엔트로피·형식 등 11개 특징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B7E32-F55C-47BC-9755-F1110DC7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14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F7265-867F-4BB7-B5E6-64DAB0F1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경계 사례만 정답 한 줄로 재검증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0443A-EC6E-4C48-AA0E-4F9F0E8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005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7575AE-4D11-4C53-B748-38CF0563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불일치하거나 불확실할 때만 7B 호출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B1E36F-14FA-4900-AC2D-9DA816F6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AUC 0.589 → 0.722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AA785-D446-4870-BA1F-1B7A44A4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5B8EB1-6531-4177-88EA-1725A3E0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711065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BD633-8DEB-4153-A1F0-3D846869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66CBD8-7B4E-4DE4-AA38-9F156BB9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한 번의 짧은 재검증이 Lower 채택과 Upper 전달을 가른다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391BA-8C00-4E6A-8754-D01034FC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eb1d996bde45a8"/>
          <a:stretch xmlns:a="http://schemas.openxmlformats.org/drawingml/2006/main"/>
        </p:blipFill>
        <p:spPr>
          <a:xfrm xmlns:a="http://schemas.openxmlformats.org/drawingml/2006/main" flipH="0" flipV="0">
            <a:off x="1529341" y="1504950"/>
            <a:ext cx="9133318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2142E-98D4-41F5-86F8-73FB159A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① 신뢰도가 높으면 즉시 채택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F5783-2D85-48A2-86AA-2F1537BB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② 경계 영역만 Answer-only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E068C-9B6F-4145-9300-3F4E52C8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③ 불일치·저신뢰만 Upper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C0949-562F-4539-84CA-E9E5938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867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C3 기준선은 ②에서 전체 풀이를 다시 생성한다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63D8D-C4AC-4DB3-A8BD-BF08E04A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DB522-43E4-4F81-960B-01BE580E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021890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신뢰도 점수 하나로 세 가지 경로를 선택한다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신뢰도 점수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qᵢ = σ(wᵀxᵢ + 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SLM이 맞힐 가능성을 0~1로 출력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즉시 채택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qᵢ ≥ τₕ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신뢰도가 높으면 Lower 답 사용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상위 모델 전달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qᵢ &lt; τₗ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신뢰도가 낮으면 Upper 호출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경계 구간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τₗ ≤ qᵢ &lt; τₕ이면 정답 한 줄 재검증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두 답이 같으면 Lower, 다르면 Upper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기호 읽기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xᵢ: SLM 출력에서 뽑은 11개 특징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σ: 점수를 0~1로 바꾸는 sigmoid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두 답의 일치 조건과 실제 호출 비용을 함께 계산한다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최종 채택 여부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acceptᵢ 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Lower 답을 최종 출력할지 결정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높은 신뢰도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[qᵢ ≥ τₕ] 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임계값 이상이면 즉시 채택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경계에서 답 일치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[경계 ∧ 답 일치]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aᵢ⁽¹⁾ = aᵢ⁽ᵛ⁾일 때 채택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문항별 비용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Cᵢ = Cᴸ + Iᵢ⁽ᵛ⁾Cⱽ + Iᵢ⁽ᵁ⁾Cᵁ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1차 SLM + 실제 호출한 검증·Upper 비용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정규화 비용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C̃ = (1/N) Σᵢ Cᵢ / Cᵁ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Cᴸ=1, Cᵁ=4.667, Cⱽ=0.0591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Lower의 정답 손실을 회복하면서 Upper 수준의 품질을 지켰다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Lower 단독 기준선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61~63%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GSM8K full/pilot · 비용은 가장 낮음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제안 Cascade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약 86%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Fresh 86.00% · SVAMP C3 86.33%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Always-Upper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87~88%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Fresh 87.25% · SVAMP 88.00%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100문제로 풀어보면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Lower만 쓰면 약 37~39문제를 놓친다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라우팅 후 정답률은 약 86문제까지 회복된다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논문의 정확한 주장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Upper보다 1.25~1.67%p 낮지만 품질 98%대 유지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Answer-only도 품질 97.35~99.10%, 비용 19~22% 절감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E8D36-4878-4122-9470-1556DAC5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A008A-F380-483E-9E79-28D08918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전체 재풀이를 ‘답 한 줄’로 바꾸자 검증 시간이 94% 줄었다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C75DE-2B7D-413D-9D02-F1790816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ec27d4a954c57"/>
          <a:stretch xmlns:a="http://schemas.openxmlformats.org/drawingml/2006/main"/>
        </p:blipFill>
        <p:spPr>
          <a:xfrm xmlns:a="http://schemas.openxmlformats.org/drawingml/2006/main" flipH="0" flipV="0">
            <a:off x="901667" y="1428750"/>
            <a:ext cx="10388666" cy="3810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89CD6-8E32-4A84-B356-CCF19E54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48300"/>
            <a:ext cx="849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동일 RTX 3090 · 동일 128문항 · batch 16 · 조건별 2회 ABBA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EBEB1-06EE-428D-A713-8A1123A1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처리량 2.03 → 34.32 items/s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17651-255A-4B29-889A-8D1D3BF7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C0343-0598-44E4-8ECB-A1E342F5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816656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3184CE-FA7B-41D2-8398-A2FBC983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835C7-D2CB-4C46-B82B-A931F3E8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Upper 품질의 97~99%를 유지하면서 비용을 19~22% 낮췄다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6A687-2565-46AD-9FC2-5DD1B5A2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ED363-86D0-4EA5-AF48-12027B22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99.10%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8CD32-17FC-4615-A212-8938722E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인증 분할: Upper 대비 품질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7F0BF-418A-4BBC-87F4-E2992E9A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−22.29%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51157-6853-4C10-BBFC-AC16AAB6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인증 분할: 정규화 비용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05577-C591-4644-95DC-03FBD3D3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97.35%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A9D0A3-8678-4C03-8DA0-07C6DD8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공식 테스트: Upper 대비 품질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D58A6-B6E3-47A7-B1AA-AC656ADA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6C2D8C-4B8D-4C24-8A5C-B5D5C288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014EB-A7F4-419C-83E7-E8DD4ED4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371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방법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D8E0B3-22FA-49DC-B414-914F6B5F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정확도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2DAE1-326A-4047-9703-9ACBDCE3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위험률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9C377E-3EF8-4ABD-94FA-D1627DF5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비용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4EF68-918A-4ECE-A84E-04C72187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절감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3BCFD-BEA2-4284-8DCC-E0FE8787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4E6C1-2EBE-4B4F-9FE8-9248A26E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인증 250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364860-3490-477C-8C43-40DC28A5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48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Answer-only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8B3AE-DED7-4CA7-8D40-35E55542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88.00%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BA43A3-1C10-4B89-AC64-217CD5FC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2.80%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65DF0-71A4-496A-870B-FF35D750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0.777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B33246-072D-435C-A778-D24E66A9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22.29%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7F4AE3-8E48-49FE-8A8F-A274D9D3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620A8D-9C9C-4539-B250-16E993D4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테스트 300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36BB36-B84F-4D25-8446-52C1AB62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577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Answer-only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F2C609-9266-4475-A9A3-FB340B2F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85.67%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F47265-5467-46AA-A5C8-3F502367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3.00%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C97C69-21E1-4C73-9FA6-AA879448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0.806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11A718-16A7-44E3-959E-37C2A4DA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19.42%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987956-AE5A-42FE-A644-E4E5BD25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인증 250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9868BE-A221-4CF6-88A1-3EEC7B0A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067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3F0D04-F24C-4307-AE53-2DEB9ACA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88.80%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EAED45-3822-49B6-AC45-FEF0D9A0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2.00%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E23536-237E-4D00-B5A4-5A43FB27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1.008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1F67E4-9B8B-4588-82D7-A7C207E1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−0.77%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A975FC-B499-4829-91F1-530F69B6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9436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Always-Upper 비용 = 1.000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74589D-82F3-419B-99B1-2E054F03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E1307E-802F-45D4-803D-C95F9EAF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79905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결과는 유망하지만, 5% 안전 보장은 아직 통과하지 못했다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관측 위험률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2.80%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7 / 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95% 단측 상한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5.195%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목표 5.0%보다 +0.195%p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정확도 차이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유의하지 않음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McNemar p=.625 / .146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해석해야 하는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관측된 성능-비용 Pareto frontier 개선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비용 감소 신뢰구간은 0을 포함하지 않음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말하면 안 되는 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‘정확도가 동일하다’ 또는 ‘비열등성을 증명했다’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‘위험률 5% 이하를 보장한다’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569D8-AFDC-4737-AA10-F308F5D1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A7C2B-ABA7-4B2D-A6B2-1F85C240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임계값을 높일수록 정확도는 오르지만 비용도 함께 증가한다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0715D-6222-4F57-9A33-AFB8D98F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33431a7b3c43ed"/>
          <a:stretch xmlns:a="http://schemas.openxmlformats.org/drawingml/2006/main"/>
        </p:blipFill>
        <p:spPr>
          <a:xfrm xmlns:a="http://schemas.openxmlformats.org/drawingml/2006/main" flipH="0" flipV="0">
            <a:off x="762000" y="1489096"/>
            <a:ext cx="6858000" cy="435605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CF34E-1D6A-45BC-BB07-2ABC3298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90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사전에 고정한 정책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9B92E-AEB4-4B78-B186-25D3B9D3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τₗ = 0.12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τₕ = 0.80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00BDD-1D0C-4FAA-8987-D6478A32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0ED09-A374-46D6-AF4F-1601C0A6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정책 선택 250문항에서만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37F20-550F-441C-9A71-1740E7B6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67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AA7D3-2A46-4473-9E74-499712B0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719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독립 인증 250문항은 이후 한 번 평가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A713D-7818-40BC-9151-1E9FB6B0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14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A92B6-E980-4AC6-85D4-5E2E5AB1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96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0.12/0.82는 사후 참고점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D948F9-0018-469A-B6A1-2F2E6BF8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F8231-2126-48E0-86F4-5ABC9EB4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430556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FE7433-AC75-4611-AB2D-B0662D39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F319B7-FB6D-4C1F-9FA1-0D0EDCBC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차별점은 ‘질문’이 아니라 ‘방금 생성된 답’을 보고 결정하는 것이다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5B7D9-3FD1-43E1-A8DC-75F9ECEB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480D0-A8D0-4C8B-8F29-CD276259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비교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339A2-45A1-4A1D-BEA6-1CBEDA0E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Query-only routing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FA5ED-B588-4029-80A3-F5D14EA8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전체 풀이 cascade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C2A3E-3CBC-411F-8F83-AA19C4DA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049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B77B4-9F27-4410-9057-5DE0747C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19250"/>
            <a:ext cx="325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본 연구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C62FF-2244-433B-8577-8CB9BF81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18724-76D5-4BEC-A7DA-CA1715DE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판단 신호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1B1C4-F93F-419C-8D25-C9BCEF17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질문 임베딩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F11DE-20BA-4F86-A66A-54FF68A9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첫 답 + 전체 재풀이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3F2E0-EF2A-404A-9707-E7393E23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첫 답 신뢰도 + 정답 한 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A5327-FB70-45B3-A1C1-4BB7792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5A05B4-34DE-4ECC-BDA0-05AE769A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37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두 번째 호출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FC3B1F-CFB3-42C5-A0F7-DEDAC995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없음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37954D-45F8-44F3-8C84-C4E22B74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평균 124.55토큰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770A6B-99CC-493E-96E6-40AABC54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337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평균 5.40토큰*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041E3A-D06D-47BB-9BC2-7FD9BAF2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659704-E63C-4166-9F27-CB683CB5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실측 비용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D7CA32-7CD8-449B-A731-E82E577A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보통 호출 수 중심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2E9DFC-D8C3-49D7-964A-8F01185D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검증 오버헤드 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D061DF-60D1-48DC-ADD3-A973AC7C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766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1차·검증·Upper를 모두 합산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18774D-3394-47B4-95F6-635A3821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36E5C7-E30E-47C5-99E7-D66C0D5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위험 검증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65191-069F-49DE-8A93-05CAA632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일반 테스트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8A1C4-58A9-49C4-B30C-3CF9876F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일반 테스트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5D9CC-5A46-407F-B0C8-ED9714A6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196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250/250 분리 + 95% 상한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BBEEB6-5267-47C7-825F-13542911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9C2CE3-C9E5-4A2A-B88F-42A1BE8E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업데이트 대응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40BEA3-7DB8-466C-9BFB-75C5AABB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분류기 재학습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29A04C-E50B-4A19-BEE5-356A0FE2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정책 재학습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3EB24C-17F0-47FA-9566-427C497D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625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임계값 재보정 구조 제안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BE8E8E-08EB-4300-BEC3-18313D07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626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* 지연시간 벤치마크 128문항 기준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5EE166-0563-4063-BDA3-FDF669DC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C6C2AA-202F-4DB0-A5B3-32D63069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155265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951CE7-C01B-4656-94D2-E4C45938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A4AB5E-FBC7-475A-B68F-83C78A99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검증된 기여와 앞으로 검증할 구조를 분리한다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4AB44-2849-4191-B412-B11FCF82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CBEBD-6526-468E-9877-76EF753A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이번 파일럿에서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E3C47-D32F-43D4-B801-72CE6D90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7DFCE8-37D2-42E1-8C1E-EC742C26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Answer-only의 GPU 지연시간 94.09% 감소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37848-C7FE-491B-B5B8-847FECEF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E9464-466C-4290-86FC-CC337D7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독립 분할에서 품질·비용 효과 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DB359-70CC-4266-9465-967D3CD6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7E7EE2-C484-4572-AF3D-DC10D45F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Paired bootstrap·McNemar·정확 위험 상한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7FDD4C-6CE4-46E1-A63A-4EB70104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5BE0A-6645-4954-8A9F-08793824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안전 기준 실패까지 포함한 정직한 보고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F3DA1-565A-41CF-A4E6-F9875800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7D678-2629-49BF-8F9C-7E200449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운영 확장으로 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192A1-7EA2-43F7-930A-75CF9573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B4B231-CF00-4836-9BC4-CBB827F4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669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Lower 업데이트 후 신뢰도 drift 측정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7BBE4-A312-4D8C-950E-C6AF50BF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F50684-0A69-4F18-AAEA-4F29CB2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527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작은 calibration set으로 임계값 재보정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1D8E9-4B19-477F-9006-5AEFAEB7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004B6-F50B-4FA6-847E-208485C6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385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위험 상한 제약 아래 비용 최소화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C63F91-56C4-459F-8ED5-C40B54A6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438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아직 완전한 MLOps 실증 결과로 주장하지 않는다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5E4958-4640-458D-8757-FB726CF5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EC5C86-D1EA-46D1-9434-27C3483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730736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3DD408-290D-4C2E-B491-88A1D943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결론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1F3F3-637D-444F-9286-4D71805D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7810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긴 재풀이 없이도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‘믿고 맡길 답’을 고를 수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ABC7B-75A2-41E5-974A-60F56FF1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685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D33AB-3F20-4837-9BD7-DEAC2024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094C7-C17F-4C96-AA4F-B27214F9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4743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Upper 품질 97.35~99.10% 유지 · 검증 29.15ms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67095-0876-4F7D-8EB0-29017686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8FA5B-8961-4173-8B00-FB4C53D3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493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전체 비용 19.42~22.29% 절감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D314F-DEC4-4EF0-BF55-B5EB2393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605C5-83C6-46AB-A01B-5D675AEC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2500"/>
            <a:ext cx="5981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안전 보장은 near-miss - 다음 독립 표본에서 재인증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13189-F548-4AEA-8EB9-72826422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71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다음 단계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A798C-4409-4BBE-9B26-CDF41E82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8620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위험 제약 임계값 최적화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+ 더 큰 표본의 비열등성 검정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+ 다중 모델·도메인 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D9756-F3AF-4C7D-A3D7-E28B5A86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코드·재현 자료: github.com/chjnett/llm_router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8A0DC-9F15-4937-ABEE-594ABAA0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724F8-845F-4EB8-9393-4D18885C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02735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2026-09-03T13:32:38.8700000Z</dcterms:created>
  <dcterms:modified xsi:type="dcterms:W3CDTF">2026-09-03T13:32:38.8700000Z</dcterms:modified>
</coreProperties>
</file>