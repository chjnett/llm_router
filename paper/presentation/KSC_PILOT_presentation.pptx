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e701ab39e84859" /><Relationship Type="http://schemas.openxmlformats.org/officeDocument/2006/relationships/extended-properties" Target="/docProps/app.xml" Id="R3db2bdb0ab074d5e" /><Relationship Type="http://schemas.openxmlformats.org/officeDocument/2006/relationships/officeDocument" Target="/ppt/presentation.xml" Id="R604a87ed148547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5a4d0d895245ae"/>
  </p:sldMasterIdLst>
  <p:notesMasterIdLst>
    <p:notesMasterId xmlns:r="http://schemas.openxmlformats.org/officeDocument/2006/relationships" r:id="R179415ad784a401c"/>
  </p:notesMasterIdLst>
  <p:sldIdLst>
    <p:sldId xmlns:r="http://schemas.openxmlformats.org/officeDocument/2006/relationships" id="256" r:id="Rc1062952e4ec46a1"/>
    <p:sldId xmlns:r="http://schemas.openxmlformats.org/officeDocument/2006/relationships" id="257" r:id="R8886affe09e24041"/>
    <p:sldId xmlns:r="http://schemas.openxmlformats.org/officeDocument/2006/relationships" id="258" r:id="Rcb39f6cf816345b1"/>
    <p:sldId xmlns:r="http://schemas.openxmlformats.org/officeDocument/2006/relationships" id="259" r:id="R494d68222bc646cf"/>
    <p:sldId xmlns:r="http://schemas.openxmlformats.org/officeDocument/2006/relationships" id="260" r:id="R33f49ca717ef4681"/>
    <p:sldId xmlns:r="http://schemas.openxmlformats.org/officeDocument/2006/relationships" id="261" r:id="R000655ad3af24207"/>
    <p:sldId xmlns:r="http://schemas.openxmlformats.org/officeDocument/2006/relationships" id="262" r:id="Rfa2fceeffbda4ec4"/>
    <p:sldId xmlns:r="http://schemas.openxmlformats.org/officeDocument/2006/relationships" id="263" r:id="Rab3396a620cf4082"/>
    <p:sldId xmlns:r="http://schemas.openxmlformats.org/officeDocument/2006/relationships" id="264" r:id="R9b4d591f7a0a434c"/>
    <p:sldId xmlns:r="http://schemas.openxmlformats.org/officeDocument/2006/relationships" id="265" r:id="R96b82cf05cb34536"/>
    <p:sldId xmlns:r="http://schemas.openxmlformats.org/officeDocument/2006/relationships" id="266" r:id="R0d2f7617df8646f4"/>
    <p:sldId xmlns:r="http://schemas.openxmlformats.org/officeDocument/2006/relationships" id="267" r:id="Rcad9d57ef73c46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69045cf70f4e0f" /><Relationship Type="http://schemas.openxmlformats.org/officeDocument/2006/relationships/slideMaster" Target="/ppt/slideMasters/slideMaster1.xml" Id="Rfa5a4d0d895245ae" /><Relationship Type="http://schemas.openxmlformats.org/officeDocument/2006/relationships/notesMaster" Target="/ppt/notesMasters/notesMaster1.xml" Id="R179415ad784a401c" /><Relationship Type="http://schemas.openxmlformats.org/officeDocument/2006/relationships/presProps" Target="/ppt/presProps.xml" Id="Rb6c06fbe6cd549f6" /><Relationship Type="http://schemas.openxmlformats.org/officeDocument/2006/relationships/tableStyles" Target="/ppt/tableStyles.xml" Id="Re5e09fcc1adb4dcf" /><Relationship Type="http://schemas.openxmlformats.org/officeDocument/2006/relationships/slide" Target="/ppt/slides/slide1.xml" Id="Rc1062952e4ec46a1" /><Relationship Type="http://schemas.openxmlformats.org/officeDocument/2006/relationships/slide" Target="/ppt/slides/slide2.xml" Id="R8886affe09e24041" /><Relationship Type="http://schemas.openxmlformats.org/officeDocument/2006/relationships/slide" Target="/ppt/slides/slide3.xml" Id="Rcb39f6cf816345b1" /><Relationship Type="http://schemas.openxmlformats.org/officeDocument/2006/relationships/slide" Target="/ppt/slides/slide4.xml" Id="R494d68222bc646cf" /><Relationship Type="http://schemas.openxmlformats.org/officeDocument/2006/relationships/slide" Target="/ppt/slides/slide5.xml" Id="R33f49ca717ef4681" /><Relationship Type="http://schemas.openxmlformats.org/officeDocument/2006/relationships/slide" Target="/ppt/slides/slide6.xml" Id="R000655ad3af24207" /><Relationship Type="http://schemas.openxmlformats.org/officeDocument/2006/relationships/slide" Target="/ppt/slides/slide7.xml" Id="Rfa2fceeffbda4ec4" /><Relationship Type="http://schemas.openxmlformats.org/officeDocument/2006/relationships/slide" Target="/ppt/slides/slide8.xml" Id="Rab3396a620cf4082" /><Relationship Type="http://schemas.openxmlformats.org/officeDocument/2006/relationships/slide" Target="/ppt/slides/slide9.xml" Id="R9b4d591f7a0a434c" /><Relationship Type="http://schemas.openxmlformats.org/officeDocument/2006/relationships/slide" Target="/ppt/slides/slide10.xml" Id="R96b82cf05cb34536" /><Relationship Type="http://schemas.openxmlformats.org/officeDocument/2006/relationships/slide" Target="/ppt/slides/slide11.xml" Id="R0d2f7617df8646f4" /><Relationship Type="http://schemas.openxmlformats.org/officeDocument/2006/relationships/slide" Target="/ppt/slides/slide12.xml" Id="Rcad9d57ef73c46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a49677fb6b4e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92d70a9b0f4d53" /><Relationship Type="http://schemas.openxmlformats.org/officeDocument/2006/relationships/notesMaster" Target="/ppt/notesMasters/notesMaster1.xml" Id="R82dd76c9b01e42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f43080319d4b5e" /><Relationship Type="http://schemas.openxmlformats.org/officeDocument/2006/relationships/notesMaster" Target="/ppt/notesMasters/notesMaster1.xml" Id="R3efc804e77634b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fe7d0fd8fc4b8f" /><Relationship Type="http://schemas.openxmlformats.org/officeDocument/2006/relationships/notesMaster" Target="/ppt/notesMasters/notesMaster1.xml" Id="R3c3931795b7945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77b510fd35452d" /><Relationship Type="http://schemas.openxmlformats.org/officeDocument/2006/relationships/notesMaster" Target="/ppt/notesMasters/notesMaster1.xml" Id="R67a7ea0bd73f48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2f460af7b2433c" /><Relationship Type="http://schemas.openxmlformats.org/officeDocument/2006/relationships/notesMaster" Target="/ppt/notesMasters/notesMaster1.xml" Id="R1d253d05315f49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9e7eaf8ce64283" /><Relationship Type="http://schemas.openxmlformats.org/officeDocument/2006/relationships/notesMaster" Target="/ppt/notesMasters/notesMaster1.xml" Id="Rc78f68c2269b41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1163d4592a43c9" /><Relationship Type="http://schemas.openxmlformats.org/officeDocument/2006/relationships/notesMaster" Target="/ppt/notesMasters/notesMaster1.xml" Id="R5e8519406da747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8e2b1dc2744162" /><Relationship Type="http://schemas.openxmlformats.org/officeDocument/2006/relationships/notesMaster" Target="/ppt/notesMasters/notesMaster1.xml" Id="R032b1ffd4c6544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1c1d0e2e7b4485" /><Relationship Type="http://schemas.openxmlformats.org/officeDocument/2006/relationships/notesMaster" Target="/ppt/notesMasters/notesMaster1.xml" Id="R286216ea7aaf41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653d4853cc4381" /><Relationship Type="http://schemas.openxmlformats.org/officeDocument/2006/relationships/notesMaster" Target="/ppt/notesMasters/notesMaster1.xml" Id="R00c6d3f9e8bb40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d5f906b0ae4af5" /><Relationship Type="http://schemas.openxmlformats.org/officeDocument/2006/relationships/notesMaster" Target="/ppt/notesMasters/notesMaster1.xml" Id="R9774273e88e94b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ee2e782fe340a9" /><Relationship Type="http://schemas.openxmlformats.org/officeDocument/2006/relationships/notesMaster" Target="/ppt/notesMasters/notesMaster1.xml" Id="Rad7ad9df8b6944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연구의 핵심은 질문만 보고 모델을 고르는 것이 아니라, 작은 모델이 실제로 만든 답을 보고 라우팅한다는 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일반 임베딩은 의미 유사도에는 강하지만 특정 Lower 모델이 풀 수 있는지 직접 알려주지 않는다. 출력 신뢰도 특징이 이 간극을 보완했다.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C:/llm_models/llm_router/artifacts/results/baseline_routers_lower_concise_7b.json</a:t>
            </a:r>
          </a:p>
          <a:p xmlns:a="http://schemas.openxmlformats.org/drawingml/2006/main">
            <a:r>
              <a:t>- C:/llm_models/llm_router/artifacts/results/confidence_router.json</a:t>
            </a:r>
          </a:p>
          <a:p xmlns:a="http://schemas.openxmlformats.org/drawingml/2006/main">
            <a:r>
              <a:t>- C:/llm_models/llm_router/src/run_confidence_router.py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C3와 제안 방법은 첫 번째 SLM과 Upper LLM이 같다. 차이는 경계 사례의 두 번째 호출을 전체 풀이 대신 정답 전용 프롬프트로 바꾼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C:/llm_models/llm_router/src/run_low_cost_verifier.py</a:t>
            </a:r>
          </a:p>
          <a:p xmlns:a="http://schemas.openxmlformats.org/drawingml/2006/main">
            <a:r>
              <a:t>- C:/llm_models/llm_router/src/inference.py</a:t>
            </a:r>
          </a:p>
          <a:p xmlns:a="http://schemas.openxmlformats.org/drawingml/2006/main">
            <a:r>
              <a:t>- C:/llm_models/llm_router/paper/figures/fig1_architecture.png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q_i는 로지스틱 회귀가 출력하는 Lower 성공 확률이다. τ_l과 τ_h 사이만 Answer-only 검증을 수행한다. 본 실험의 고정 임계값은 τ_l=0.12, τ_h=0.80이다.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manuscript equation screenshot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accept_i는 높은 신뢰도이거나, 경계 구간에서 첫 숫자 답과 검증 숫자 답이 같을 때 1이다. I는 해당 모델을 실제 호출했으면 1, 아니면 0인 지시함수다. 정규화 비용은 Always-Upper 비용을 1로 둔 평균이다.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manuscript equation screenshot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5.40토큰은 지연시간 벤치마크 128문항의 평균이다. 독립 인증 250문항에서는 평균 6.54토큰이므로 표본 범위를 구분해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C:/llm_models/llm_router/artifacts/results/verifier_latency_benchmark.json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  <a:p xmlns:a="http://schemas.openxmlformats.org/drawingml/2006/main">
            <a:r>
              <a:t>- C:/llm_models/llm_router/paper/figures/fig2_latency_tokens.png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품질 유지율은 인증 88.00/88.80=99.10%, 공식 테스트 85.67/88.00=97.35%로 계산했다. 98.11%와 26.79%는 최종 Answer-only 결과가 아니므로 발표에서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C:/llm_models/llm_router/paper/data/paper_results.json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통계적으로 유의한 차이가 없다는 사실은 동등성 증명이 아니다. 위험 상한 5.195%는 사전 기준 5%를 근소하게 넘었으므로 near-miss로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C:/llm_models/llm_router/artifacts/results/svamp_low_cost_verifier.json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보라색 점 0.12/0.80은 독립 평가 전에 고정했다. 오른쪽 0.12/0.82를 결과를 본 뒤 최종 정책으로 교체하지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C:/llm_models/llm_router/artifacts/results/verifier_performance_analysis.json</a:t>
            </a:r>
          </a:p>
          <a:p xmlns:a="http://schemas.openxmlformats.org/drawingml/2006/main">
            <a:r>
              <a:t>- C:/llm_models/llm_router/paper/figures/fig3_pareto_frontier.png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RouteLLM/FrugalGPT와의 비교는 기능적 차이를 요약한 것이다. 본 실험의 BGE AUC 0.589를 모든 query-only 라우터의 일반 성능처럼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C:/llm_models/llm_router/paper/overleaf/main_single.tex</a:t>
            </a:r>
          </a:p>
          <a:p xmlns:a="http://schemas.openxmlformats.org/drawingml/2006/main">
            <a:r>
              <a:t>- https://openreview.net/forum?id=8sSqNntaMr</a:t>
            </a:r>
          </a:p>
          <a:p xmlns:a="http://schemas.openxmlformats.org/drawingml/2006/main">
            <a:r>
              <a:t>- https://openreview.net/forum?id=cSimKw5p6R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Drift adaptation은 HTML 전체 아키텍처에 포함된 운영 확장 방향이다. 이번 핵심 실험이 직접 입증한 것은 Answer-only 검증의 속도와 성능-비용 결과다.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C:/llm_models/llm_router/adaptive_slm_llm_routing_architecture_v1.html</a:t>
            </a:r>
          </a:p>
          <a:p xmlns:a="http://schemas.openxmlformats.org/drawingml/2006/main">
            <a:r>
              <a:t>- C:/llm_models/llm_router/RESULTS_KSC_PILOT.md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메시지는 성능-비용 frontier 개선이다. 안전 보장이나 모든 도메인 일반화를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C:/llm_models/llm_router/RESULTS_KSC_PILOT.md</a:t>
            </a:r>
          </a:p>
          <a:p xmlns:a="http://schemas.openxmlformats.org/drawingml/2006/main">
            <a:r>
              <a:t>- https://github.com/chjnett/llm_router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09727b033b49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b51d529bcb4c99" /><Relationship Type="http://schemas.openxmlformats.org/officeDocument/2006/relationships/slideLayout" Target="/ppt/slideLayouts/slideLayout1.xml" Id="R431d87e80a0241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d87e80a0241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a12fd468a3454e" /><Relationship Type="http://schemas.openxmlformats.org/officeDocument/2006/relationships/notesSlide" Target="/ppt/notesSlides/notesSlide1.xml" Id="R0d554c5018e74b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818f594fc4512" /><Relationship Type="http://schemas.openxmlformats.org/officeDocument/2006/relationships/notesSlide" Target="/ppt/notesSlides/notesSlide2.xml" Id="R1d188992f45041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56f6185b1452e" /><Relationship Type="http://schemas.openxmlformats.org/officeDocument/2006/relationships/image" Target="/ppt/media/image.png" Id="R526451ff5a5f47b7" /><Relationship Type="http://schemas.openxmlformats.org/officeDocument/2006/relationships/notesSlide" Target="/ppt/notesSlides/notesSlide3.xml" Id="Rbb6e49a2dbe14c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9e1f6d39c40e9" /><Relationship Type="http://schemas.openxmlformats.org/officeDocument/2006/relationships/notesSlide" Target="/ppt/notesSlides/notesSlide4.xml" Id="R112397325cc949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967e29cbb46a8" /><Relationship Type="http://schemas.openxmlformats.org/officeDocument/2006/relationships/notesSlide" Target="/ppt/notesSlides/notesSlide5.xml" Id="R4891a9ad2a364c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f66a06daa4693" /><Relationship Type="http://schemas.openxmlformats.org/officeDocument/2006/relationships/image" Target="/ppt/media/image2.png" Id="R7b255cc3b3da4156" /><Relationship Type="http://schemas.openxmlformats.org/officeDocument/2006/relationships/notesSlide" Target="/ppt/notesSlides/notesSlide6.xml" Id="Raaf57e1ac3144e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76dc365dc47a3" /><Relationship Type="http://schemas.openxmlformats.org/officeDocument/2006/relationships/notesSlide" Target="/ppt/notesSlides/notesSlide7.xml" Id="R8c19deda41aa46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79e9968b744e9" /><Relationship Type="http://schemas.openxmlformats.org/officeDocument/2006/relationships/notesSlide" Target="/ppt/notesSlides/notesSlide8.xml" Id="Re3cb94a19dd24e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3ccecede94a62" /><Relationship Type="http://schemas.openxmlformats.org/officeDocument/2006/relationships/image" Target="/ppt/media/image3.png" Id="Rd254504efafd465c" /><Relationship Type="http://schemas.openxmlformats.org/officeDocument/2006/relationships/notesSlide" Target="/ppt/notesSlides/notesSlide9.xml" Id="R298ca4751d714a7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099bdc22d64bf2" /><Relationship Type="http://schemas.openxmlformats.org/officeDocument/2006/relationships/notesSlide" Target="/ppt/notesSlides/notesSlide10.xml" Id="R7331c45ab68e43f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dc1efac194bdd" /><Relationship Type="http://schemas.openxmlformats.org/officeDocument/2006/relationships/notesSlide" Target="/ppt/notesSlides/notesSlide11.xml" Id="Rded9d433ee8245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5f48729bca40ba" /><Relationship Type="http://schemas.openxmlformats.org/officeDocument/2006/relationships/notesSlide" Target="/ppt/notesSlides/notesSlide12.xml" Id="R28d340b050a440c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FFAD78-9F24-4FD7-8A30-56B4B73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620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0CB4A-79E2-41D0-AC46-44EB1B63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123950"/>
            <a:ext cx="857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작은 모델이 먼저 답하고,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의심될 때만 큰 모델이 해결한다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DC398-557F-4E8C-A529-83FC5327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출력 신뢰도 + 정답 한 줄 검증을 이용한 적응형 SLM-LLM 라우팅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B066C-EE22-418B-BB6F-D23700F0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KSC PILOT · Capability-aware Adaptive Routing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90E42-6659-4B92-B5DC-51D3A05F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29.15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6AC2C4-33C4-4D2F-AF8D-AE7B37AE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정답 전용 검증 지연시간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3743C-6123-42D2-838D-B042415B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476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−94.09%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4DCF0-8512-45B8-B174-923B3266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435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두 번째 호출 지연시간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BEA05B-D1CD-4E14-8B8C-4218C827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76250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Qwen2.5-1.5B → 필요할 때만 7B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A9A30-55E5-4F73-8B8D-3922371E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3BDBA1-0A2A-4549-AB75-E8330D43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658313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C34D77-6750-4E83-80C4-568DF16A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E8092-474A-40D3-A340-CCBC0021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질문만 보면 ‘주제’는 알지만, 작은 모델의 ‘수행 가능성’은 모른다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7E3A3-98AB-4722-BB0B-DBC3D038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37DB1-3CF9-4770-B9D7-8F5CD3BD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기존 Query-only 라우팅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B65CA-7706-4318-958A-4337CA31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질문 임베딩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AE64D-213B-4270-99CB-CDDDA8CC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479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EFACB6-DE05-4C65-BA77-B82672E9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479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모델 선택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75441-679D-4B28-99D9-1538A3F0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521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같은 수학 주제 안에서도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쉬운 문제와 어려운 문제를 구분하기 어렵다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C75D6-31E4-4821-8E5D-DFAFB305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1905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09E7AB-E16E-4BFB-8D0A-CD41290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본 연구: Output-aware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CADA38-6419-43B9-A86D-111F0A2D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431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DC29D-42FE-49AA-ACCE-BC183B7F8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4790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SLM이 먼저 실제 답을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4290B-400A-4A53-884A-6C30CCCE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289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A66352-5610-4B0A-819A-F02C537A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토큰 확률·엔트로피·형식 등 11개 특징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0B7E32-F55C-47BC-9755-F1110DC7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F7265-867F-4BB7-B5E6-64DAB0F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경계 사례만 정답 한 줄로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80443A-EC6E-4C48-AA0E-4F9F0E8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005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7575AE-4D11-4C53-B748-38CF0563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불일치하거나 불확실할 때만 7B 호출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B1E36F-14FA-4900-AC2D-9DA816F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2197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0000"/>
                </a:solidFill>
              </a:defRPr>
            </a:pPr>
            <a:r>
              <a:rPr sz="2400" b="1">
                <a:solidFill>
                  <a:srgbClr val="000000"/>
                </a:solidFill>
              </a:rPr>
              <a:t>AUC 0.589 → 0.722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AA785-D446-4870-BA1F-1B7A44A4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B8EB1-6531-4177-88EA-1725A3E0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711065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BD633-8DEB-4153-A1F0-3D846869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66CBD8-7B4E-4DE4-AA38-9F156BB9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한 번의 짧은 재검증이 Lower 채택과 Upper 전달을 가른다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391BA-8C00-4E6A-8754-D01034FC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451ff5a5f47b7"/>
          <a:stretch xmlns:a="http://schemas.openxmlformats.org/drawingml/2006/main"/>
        </p:blipFill>
        <p:spPr>
          <a:xfrm xmlns:a="http://schemas.openxmlformats.org/drawingml/2006/main" flipH="0" flipV="0">
            <a:off x="1529341" y="1504950"/>
            <a:ext cx="9133318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2142E-98D4-41F5-86F8-73FB159A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① 신뢰도가 높으면 즉시 채택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F5783-2D85-48A2-86AA-2F1537BB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② 경계 영역만 Answer-only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AE068C-9B6F-4145-9300-3F4E52C8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③ 불일치·저신뢰만 Upper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C0949-562F-4539-84CA-E9E5938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8674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C3 기준선은 ②에서 전체 풀이를 다시 생성한다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A63D8D-C4AC-4DB3-A8BD-BF08E04A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4DB522-43E4-4F81-960B-01BE580E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021890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신뢰도 점수 하나로 세 가지 경로를 선택한다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신뢰도 점수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2850" b="1">
                <a:solidFill>
                  <a:srgbClr val="000000"/>
                </a:solidFill>
              </a:rPr>
              <a:t>qᵢ = σ(wᵀxᵢ + b)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SLM이 맞힐 가능성을 0~1로 출력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즉시 채택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qᵢ ≥ τₕ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신뢰도가 높으면 Lower 답 사용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상위 모델 전달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qᵢ &lt; τₗ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신뢰도가 낮으면 Upper 호출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경계 구간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τₗ ≤ qᵢ &lt; τₕ이면 정답 한 줄 재검증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두 답이 같으면 Lower, 다르면 Upper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기호 읽기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xᵢ: SLM 출력에서 뽑은 11개 특징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σ: 점수를 0~1로 바꾸는 sigmoid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두 답의 일치 조건과 실제 호출 비용을 함께 계산한다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최종 채택 여부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acceptᵢ 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Lower 답을 최종 출력할지 결정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높은 신뢰도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[qᵢ ≥ τₕ] 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임계값 이상이면 즉시 채택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경계에서 답 일치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[경계 ∧ 답 일치]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aᵢ⁽¹⁾ = aᵢ⁽ᵛ⁾일 때 채택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문항별 비용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Cᵢ = Cᴸ + Iᵢ⁽ᵛ⁾Cⱽ + Iᵢ⁽ᵁ⁾Cᵁ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1차 SLM + 실제 호출한 검증·Upper 비용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정규화 비용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2250" b="0">
                <a:solidFill>
                  <a:srgbClr val="000000"/>
                </a:solidFill>
              </a:rPr>
              <a:t>C̃ = (1/N) Σᵢ Cᵢ / Cᵁ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Cᴸ=1, Cᵁ=4.667, Cⱽ=0.0591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7E8D36-4878-4122-9470-1556DAC5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A008A-F380-483E-9E79-28D08918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전체 재풀이를 ‘답 한 줄’로 바꾸자 검증 시간이 94% 줄었다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C75DE-2B7D-413D-9D02-F1790816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255cc3b3da4156"/>
          <a:stretch xmlns:a="http://schemas.openxmlformats.org/drawingml/2006/main"/>
        </p:blipFill>
        <p:spPr>
          <a:xfrm xmlns:a="http://schemas.openxmlformats.org/drawingml/2006/main" flipH="0" flipV="0">
            <a:off x="901667" y="1428750"/>
            <a:ext cx="10388666" cy="3810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89CD6-8E32-4A84-B356-CCF19E54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48300"/>
            <a:ext cx="8496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동일 RTX 3090 · 동일 128문항 · batch 16 · 조건별 2회 ABBA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EBEB1-06EE-428D-A713-8A1123A1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처리량 2.03 → 34.32 items/s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617651-255A-4B29-889A-8D1D3BF7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C0343-0598-44E4-8ECB-A1E342F5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816656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3184CE-FA7B-41D2-8398-A2FBC983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0835C7-D2CB-4C46-B82B-A931F3E8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빠른 검증은 전체 시스템 비용도 19~22% 낮췄다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6A687-2565-46AD-9FC2-5DD1B5A2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ED363-86D0-4EA5-AF48-12027B22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99.10%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CD32-17FC-4615-A212-8938722E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인증 분할: Upper 대비 품질 유지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7F0BF-418A-4BBC-87F4-E2992E9A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−22.29%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51157-6853-4C10-BBFC-AC16AAB6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86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인증 분할: 정규화 비용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05577-C591-4644-95DC-03FBD3D3C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97.35%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A9D0A3-8678-4C03-8DA0-07C6DD8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00000"/>
                </a:solidFill>
              </a:defRPr>
            </a:pPr>
            <a:r>
              <a:rPr sz="1425" b="0">
                <a:solidFill>
                  <a:srgbClr val="000000"/>
                </a:solidFill>
              </a:rPr>
              <a:t>공식 테스트: Upper 대비 품질 유지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D58A6-B6E3-47A7-B1AA-AC656ADA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C2D8C-4B8D-4C24-8A5C-B5D5C288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014EB-A7F4-419C-83E7-E8DD4ED4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방법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8E0B3-22FA-49DC-B414-914F6B5F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정확도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2DAE1-326A-4047-9703-9ACBDCE3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위험률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9C377E-3EF8-4ABD-94FA-D1627DF5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비용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4EF68-918A-4ECE-A84E-04C72187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71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절감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3BCFD-BEA2-4284-8DCC-E0FE8787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94E6C1-2EBE-4B4F-9FE8-9248A26E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인증 250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64860-3490-477C-8C43-40DC28A5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8481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Answer-only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58B3AE-DED7-4CA7-8D40-35E55542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88.00%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A43A3-1C10-4B89-AC64-217CD5FC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2.80%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65DF0-71A4-496A-870B-FF35D750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0.777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33246-072D-435C-A778-D24E66A9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48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22.29%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7F4AE3-8E48-49FE-8A8F-A274D9D3A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629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620A8D-9C9C-4539-B250-16E993D4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테스트 300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6BB36-B84F-4D25-8446-52C1AB62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577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Answer-only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2C609-9266-4475-A9A3-FB340B2F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85.67%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F47265-5467-46AA-A5C8-3F502367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3.00%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C97C69-21E1-4C73-9FA6-AA879448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0.806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11A718-16A7-44E3-959E-37C2A4DA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57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19.42%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987956-AE5A-42FE-A644-E4E5BD25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인증 250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9868BE-A221-4CF6-88A1-3EEC7B0A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0673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C3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F0D04-F24C-4307-AE53-2DEB9ACA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88.80%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EAED45-3822-49B6-AC45-FEF0D9A0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2.00%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E23536-237E-4D00-B5A4-5A43FB27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1.008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1F67E4-9B8B-4588-82D7-A7C207E1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067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−0.77%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A975FC-B499-4829-91F1-530F69B62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9436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Always-Upper 비용 = 1.000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474589D-82F3-419B-99B1-2E054F03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E1307E-802F-45D4-803D-C95F9EAF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79905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435253-CC6E-4E08-9BEB-BF4E1FF7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2F6AE-A15A-4400-8F13-0885D51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결과는 유망하지만, 5% 안전 보장은 아직 통과하지 못했다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9F537-8310-43E6-8484-03AF66B0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4BF0-5D3E-4BF8-80EB-D064C86C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관측 위험률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2EE17E-5BBF-4D99-92E8-C724749D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2.80%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9EEA7-9DBA-4148-A6C2-93E933AC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7 / 250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662E4-B386-47AC-B591-154515C3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954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95% 단측 상한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F85096-C1CB-4313-BA9E-69DF9F99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5.195%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F09D4-424D-4421-9228-C5E60CC0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38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목표 5.0%보다 +0.195%p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6808AE-AC8C-4713-A454-65454AB9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954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정확도 차이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20E20-0A2E-48F7-ADAD-F61452C2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00000"/>
                </a:solidFill>
              </a:defRPr>
            </a:pPr>
            <a:r>
              <a:rPr sz="2550" b="1">
                <a:solidFill>
                  <a:srgbClr val="000000"/>
                </a:solidFill>
              </a:rPr>
              <a:t>유의하지 않음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94BCE-FE72-4DFC-8C9E-C8D9F547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384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McNemar p=.625 / .146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FB48B-C7B8-4812-98A6-BB9EE63F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B4EAA-253C-4AE7-A180-9413F462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해석해야 하는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6B13-5FC8-463C-9FD0-1C30440F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9BB23-92B0-4123-9064-DE111E1B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8150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관측된 성능-비용 Pareto frontier 개선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9D1BAE-5712-49E5-B8FC-D192E4F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E08FAD-156B-4FEB-8A8A-8128F281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101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비용 감소 신뢰구간은 0을 포함하지 않음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A8B059-9797-49D4-AB32-6FC8E8A7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말하면 안 되는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2F6E4-73E0-4161-AB4C-24241861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476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B9B43D-381F-438D-905B-2C70FE9D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‘정확도가 동일하다’ 또는 ‘비열등성을 증명했다’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849B4-D338-48E0-B36F-1F54A0E9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05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219DC-C582-412D-8FE2-6FF4C58F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50101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‘위험률 5% 이하를 보장한다’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035608-E06E-4A6B-B7B6-8722F298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1338-09DF-4930-A80D-FD76FCDB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428663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569D8-AFDC-4737-AA10-F308F5D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A7C2B-ABA7-4B2D-A6B2-1F85C240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임계값을 높일수록 정확도는 오르지만 비용도 함께 증가한다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0715D-6222-4F57-9A33-AFB8D98F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4504efafd465c"/>
          <a:stretch xmlns:a="http://schemas.openxmlformats.org/drawingml/2006/main"/>
        </p:blipFill>
        <p:spPr>
          <a:xfrm xmlns:a="http://schemas.openxmlformats.org/drawingml/2006/main" flipH="0" flipV="0">
            <a:off x="762000" y="1489096"/>
            <a:ext cx="6858000" cy="435605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ACF34E-1D6A-45BC-BB07-2ABC3298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90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사전에 고정한 정책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9B92E-AEB4-4B78-B186-25D3B9D3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τₗ = 0.12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τₕ = 0.80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00BDD-1D0C-4FAA-8987-D6478A32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195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0ED09-A374-46D6-AF4F-1601C0A6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12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정책 선택 250문항에서만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37F20-550F-441C-9A71-1740E7B6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67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AA7D3-2A46-4473-9E74-499712B0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719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독립 인증 250문항은 이후 한 번 평가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A713D-7818-40BC-9151-1E9FB6B0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9149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A92B6-E980-4AC6-85D4-5E2E5AB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19650"/>
            <a:ext cx="3219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0.12/0.82는 사후 참고점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D948F9-0018-469A-B6A1-2F2E6BF8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1F8231-2126-48E0-86F4-5ABC9EB4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43055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FE7433-AC75-4611-AB2D-B0662D39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319B7-FB6D-4C1F-9FA1-0D0EDCBC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차별점은 ‘질문’이 아니라 ‘방금 생성된 답’을 보고 결정하는 것이다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5B7D9-3FD1-43E1-A8DC-75F9ECEB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480D0-A8D0-4C8B-8F29-CD27625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339A2-45A1-4A1D-BEA6-1CBEDA0E4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Query-only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FA5ED-B588-4029-80A3-F5D14EA8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61925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전체 풀이 cascade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C2A3E-3CBC-411F-8F83-AA19C4D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049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8B77B4-9F27-4410-9057-5DE0747C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본 연구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C62FF-2244-433B-8577-8CB9BF81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18724-76D5-4BEC-A7DA-CA1715DE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판단 신호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1B1C4-F93F-419C-8D25-C9BCEF17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질문 임베딩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FF11DE-20BA-4F86-A66A-54FF68A9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첫 답 + 전체 재풀이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3F2E0-EF2A-404A-9707-E7393E23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첫 답 신뢰도 + 정답 한 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4A5327-FB70-45B3-A1C1-4BB77922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5A05B4-34DE-4ECC-BDA0-05AE769A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37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두 번째 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FC3B1F-CFB3-42C5-A0F7-DEDAC995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없음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37954D-45F8-44F3-8C84-C4E22B74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337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평균 124.55토큰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70A6B-99CC-493E-96E6-40AABC54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평균 5.40토큰*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41E3A-D06D-47BB-9BC2-7FD9BAF2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659704-E63C-4166-9F27-CB683CB5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실측 비용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D7CA32-7CD8-449B-A731-E82E577A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보통 호출 수 중심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2E9DFC-D8C3-49D7-964A-8F01185D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검증 오버헤드 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D061DF-60D1-48DC-ADD3-A973AC7C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766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1차·검증·Upper를 모두 합산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18774D-3394-47B4-95F6-635A3821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24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6E5C7-E30E-47C5-99E7-D66C0D5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위험 검증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65191-069F-49DE-8A93-05CAA632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일반 테스트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8A1C4-58A9-49C4-B30C-3CF9876F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41960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일반 테스트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5D9CC-5A46-407F-B0C8-ED9714A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1960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250/250 분리 + 95% 상한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BEEB6-5267-47C7-825F-13542911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9C2CE3-C9E5-4A2A-B88F-42A1BE8E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733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0000"/>
                </a:solidFill>
              </a:defRPr>
            </a:pPr>
            <a:r>
              <a:rPr sz="1275" b="1">
                <a:solidFill>
                  <a:srgbClr val="000000"/>
                </a:solidFill>
              </a:rPr>
              <a:t>업데이트 대응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40BEA3-7DB8-466C-9BFB-75C5AABB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분류기 재학습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29A04C-E50B-4A19-BEE5-356A0FE2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162550"/>
            <a:ext cx="2400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000000"/>
                </a:solidFill>
              </a:defRPr>
            </a:pPr>
            <a:r>
              <a:rPr sz="1350" b="0">
                <a:solidFill>
                  <a:srgbClr val="000000"/>
                </a:solidFill>
              </a:rPr>
              <a:t>정책 재학습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3EB24C-17F0-47FA-9566-427C497D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62550"/>
            <a:ext cx="3257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임계값 재보정 구조 제안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BE8E8E-08EB-4300-BEC3-18313D07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9626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000000"/>
                </a:solidFill>
              </a:defRPr>
            </a:pPr>
            <a:r>
              <a:rPr sz="1050" b="0">
                <a:solidFill>
                  <a:srgbClr val="000000"/>
                </a:solidFill>
              </a:rPr>
              <a:t>* 지연시간 벤치마크 128문항 기준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EE166-0563-4063-BDA3-FDF669DC5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C6C2AA-202F-4DB0-A5B3-32D63069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155265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1CE7-C01B-4656-94D2-E4C45938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KSC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A4AB5E-FBC7-475A-B68F-83C78A99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00000"/>
                </a:solidFill>
              </a:defRPr>
            </a:pPr>
            <a:r>
              <a:rPr sz="2700" b="1">
                <a:solidFill>
                  <a:srgbClr val="000000"/>
                </a:solidFill>
              </a:rPr>
              <a:t>검증된 기여와 앞으로 검증할 구조를 분리한다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4AB44-2849-4191-B412-B11FCF82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CBEBD-6526-468E-9877-76EF753A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5735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이번 파일럿에서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E3C47-D32F-43D4-B801-72CE6D90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7DFCE8-37D2-42E1-8C1E-EC742C26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Answer-only의 GPU 지연시간 94.09% 감소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37848-C7FE-491B-B5B8-847FECEF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E9464-466C-4290-86FC-CC337D7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독립 분할에서 품질·비용 효과 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DB359-70CC-4266-9465-967D3CD6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7E7EE2-C484-4572-AF3D-DC10D45F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464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Paired bootstrap·McNemar·정확 위험 상한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FDD4C-6CE4-46E1-A63A-4EB70104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5BE0A-6645-4954-8A9F-08793824B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4552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안전 기준 실패까지 포함한 정직한 보고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F3DA1-565A-41CF-A4E6-F9875800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19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7D678-2629-49BF-8F9C-7E200449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운영 확장으로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92A1-7EA2-43F7-930A-75CF9573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B4B231-CF00-4836-9BC4-CBB827F4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669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Lower 업데이트 후 신뢰도 drift 측정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7BBE4-A312-4D8C-950E-C6AF50BF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50684-0A69-4F18-AAEA-4F29CB2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527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작은 calibration set으로 임계값 재보정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81D8E9-4B19-477F-9006-5AEFAEB7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004B6-F50B-4FA6-847E-208485C6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385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위험 상한 제약 아래 비용 최소화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63F91-56C4-459F-8ED5-C40B54A6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438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아직 완전한 MLOps 실증 결과로 주장하지 않는다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5E4958-4640-458D-8757-FB726CF5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EC5C86-D1EA-46D1-9434-27C3483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730736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3DD408-290D-4C2E-B491-88A1D943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결론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1F3F3-637D-444F-9286-4D71805D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7810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긴 재풀이 없이도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000000"/>
                </a:solidFill>
              </a:defRPr>
            </a:pPr>
            <a:r>
              <a:rPr sz="3900" b="1">
                <a:solidFill>
                  <a:srgbClr val="000000"/>
                </a:solidFill>
              </a:rPr>
              <a:t>‘믿고 맡길 답’을 고를 수 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ABC7B-75A2-41E5-974A-60F56FF1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685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D33AB-3F20-4837-9BD7-DEAC2024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094C7-C17F-4C96-AA4F-B27214F9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4743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29.15ms의 정답 전용 검증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67095-0876-4F7D-8EB0-2901768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8FA5B-8961-4173-8B00-FB4C53D3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493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전체 비용 19.42~22.29% 절감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D314F-DEC4-4EF0-BF55-B5EB2393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605C5-83C6-46AB-A01B-5D675AEC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62500"/>
            <a:ext cx="5981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안전 보장은 near-miss - 다음 독립 표본에서 재인증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913189-F548-4AEA-8EB9-72826422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71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다음 단계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A798C-4409-4BBE-9B26-CDF41E82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위험 제약 임계값 최적화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+ 더 큰 표본의 비열등성 검정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+ 다중 모델·도메인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D9756-F3AF-4C7D-A3D7-E28B5A86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00000"/>
                </a:solidFill>
              </a:defRPr>
            </a:pPr>
            <a:r>
              <a:rPr sz="1275" b="0">
                <a:solidFill>
                  <a:srgbClr val="000000"/>
                </a:solidFill>
              </a:rPr>
              <a:t>코드·재현 자료: github.com/chjnett/llm_router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8A0DC-9F15-4937-ABEE-594ABAA0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Capability-aware Adaptive SLM-LLM Routing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724F8-845F-4EB8-9393-4D18885C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000000"/>
                </a:solidFill>
              </a:defRPr>
            </a:pPr>
            <a:r>
              <a:rPr sz="825" b="0">
                <a:solidFill>
                  <a:srgbClr val="0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02735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2026-09-03T13:13:03.6410000Z</dcterms:created>
  <dcterms:modified xsi:type="dcterms:W3CDTF">2026-09-03T13:13:03.6410000Z</dcterms:modified>
</coreProperties>
</file>